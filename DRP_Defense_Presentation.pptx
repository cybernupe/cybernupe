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B3A6B"/>
                </a:solidFill>
              </a:defRPr>
            </a:pPr>
            <a:r>
              <a:t>Cybersecurity Information Systems Framework Failures and Their Impact on Satisfaction Scores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333333"/>
                </a:solidFill>
              </a:defRPr>
            </a:pPr>
            <a:r>
              <a:t>A Case Study of a Small Community NP Clinic on the Mississippi Gulf Coast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333333"/>
                </a:solidFill>
              </a:defRPr>
            </a:pPr>
            <a:r>
              <a:t>By Lavurn Nolen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333333"/>
                </a:solidFill>
              </a:defRPr>
            </a:pPr>
            <a:r>
              <a:t>Doctoral Research Project | Doctor of Business Administration</a:t>
            </a:r>
            <a:br/>
            <a:r>
              <a:t>California Intercontinental University |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Presentation Overview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Background and Context: Small clinics and cybersecurity threats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Research Problem and Purpose: IS governance gaps and patient satisfaction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Literature Framework: NIST, HIPAA, and HICP standards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Research Methodology: Qualitative single-case design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Key Findings: Seven themes connecting governance to patient experience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Implications and Recommendations: Actionable guidance for small practices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>
                <a:solidFill>
                  <a:srgbClr val="333333"/>
                </a:solidFill>
              </a:defRPr>
            </a:pPr>
            <a:r>
              <a:t>Research Chair: Dr. Aarti Khanchandani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Background of the Problem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In 2023, healthcare data breaches affected 133+ million patients nationally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Small, independent practices operate without dedicated IT staff or security budgets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Emerging research links cybersecurity breaches to operational disruption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Hospital-centered literature has not examined this at small independent clinics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NP Clinic represents the setting where most Americans receive routine care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>
                <a:solidFill>
                  <a:srgbClr val="333333"/>
                </a:solidFill>
              </a:defRPr>
            </a:pPr>
            <a:r>
              <a:t>(HHS, Office for Civil Rights, 2023; Choi et al., 2019)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Problem Statement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General: Small practices have not effectively adopted IS programs based on industry standards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Result: Exposure to cybersecurity incidents and potential degradation of patient experience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Specific: Absence of formal cybersecurity governance within NP Clinic has contributed to declining satisfaction scores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Focus: How IS governance gaps relate to CG-CAHPS-aligned patient satisfaction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Purpose Statement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Examine why NP Clinic failed to implement robust cybersecurity IS governance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Explore the impact on patient satisfaction measured through CG-CAHPS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Investigate how absence of NIST, HIPAA, and HICP-aligned practices affects cybersecurity exposure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Identify specific IS governance gaps at this organization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Provide actionable recommendations sized to resource constraints of small practices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Significance of the Study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First study examining IS governance–patient satisfaction link at small outpatient clinics using CG-CAHPS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Extends hospital-focused research to where most Americans receive primary care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Offers recommendations realistically implementable in resource-constrained settings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Informs regulatory expectations for small covered entities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Explores human and organizational factors that technical literature often overlooks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Research Questions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RQ1: How do clinical and IT/security staff characterize IS governance gaps at NP Clinic, and what factors prevent adoption of NIST, HIPAA, or HICP elements?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RQ2: How do clinical staff perceive cybersecurity practices (or their absence) affecting patient experience, including responses to technology outages?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Methodology Overview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Design: Qualitative single holistic case study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Data Collection: Semi-structured interviews (sole source per site authorization)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Sample: 8–10 participants (2 technical staff, 6–8 clinical staff)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Analysis: Reflexive thematic analysis (Braun &amp; Clarke, 2021)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Frameworks: NIST Cybersecurity Framework, HIPAA Security Rule, HICP guidelines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Outcome Measure: CG-CAHPS-aligned patient satisfaction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>
                <a:solidFill>
                  <a:srgbClr val="333333"/>
                </a:solidFill>
              </a:defRPr>
            </a:pPr>
            <a:r>
              <a:t>(Miller et al., 2023; Braun &amp; Clarke, 2021)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Description of the Problem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Healthcare has digitized rapidly; EHR systems now central to clinical operations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Hospitals have begun formal IS governance; small practices typically have none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Small clinics operate with thin staffing, informal governance, outsourced IT support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NP Clinic reflects conditions common to independent outpatient practices nationally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Relationship between IS governance and patient satisfaction at small practices unstudied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IS Governance Frameworks for Small Practices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NIST Cybersecurity Framework 2.0: Voluntary, risk-based; assumes resources most small orgs lack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HIPAA Security Rule: Mandatory; applies to small clinics exactly as to hospital systems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HICP: Explicitly scaled for organizations without dedicated IT staff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HICP represents realistic middle path for resource-constrained organizations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Framework adoption is fundamentally an economic decision as much as technical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>
                <a:solidFill>
                  <a:srgbClr val="333333"/>
                </a:solidFill>
              </a:defRPr>
            </a:pPr>
            <a:r>
              <a:t>(HHS 405(d) Task Group, 2023a; Coventry &amp; Branley, 2018)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Cybersecurity Failures and Patient Outcomes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Choi et al. (2019): Post-breach hospitals showed longer times to care, higher mortality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Argaw et al. (2020): Hospital cyberattacks caused ambulance diversions, treatment delays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Pham et al. (2024): Ransomware at one hospital increased cardiac arrests at nearby hospitals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All evidence from hospitals; no comparable research at small outpatient clinics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CG-CAHPS measures same constructs as HCAHPS: communication, responsiveness, overall care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>
                <a:solidFill>
                  <a:srgbClr val="333333"/>
                </a:solidFill>
              </a:defRPr>
            </a:pPr>
            <a:r>
              <a:t>(Choi et al., 2019; Argaw et al., 2020; Pham et al., 2024)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Human and Organizational Factors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Employee behavior and phishing are most consistent vulnerabilities (Nifakos et al., 2021)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Organizational culture predicts security behavior more than formal training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Clinicians rank time and resource constraints as top barrier to implementation (Alanazi, 2023)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Resistance reflects realistic accounting of costs, not rejection of security value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At small clinics, human factors carry even more weight due to minimal formal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>
                <a:solidFill>
                  <a:srgbClr val="333333"/>
                </a:solidFill>
              </a:defRPr>
            </a:pPr>
            <a:r>
              <a:t>(Nifakos et al., 2021; Alanazi, 2023)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Conceptual Research Framework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Inputs: IS Governance Variables (NIST adoption, HIPAA compliance, HICP tier)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Actors: Technology staff, Clinical staff, Practice owner, Patients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Mediating Processes: Technology incident → EHR disruption → Communication breakdown → Delayed care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Outputs: CG-CAHPS-aligned satisfaction (communication, responsiveness, overall rating)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Theoretical Lenses: IS Governance, Organizational Resilience, Service Quality theories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Role of the Researcher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10+ years in cybersecurity and security operations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Strength: Recognize subtle gaps in security practice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Risk: May see gaps everywhere, unconsciously favor confirming evidence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Safeguards: Reflexive bracketing, reflexive journal, member checking, audit trail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No employment or financial relationship with NP Clinic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Population and Sampling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Track A: Staff with IT or cybersecurity responsibility (formal or informal)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Track B: Clinical staff providing direct patient care and using EHR daily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Target Sample: 8–10 participants from estimated 12–16 eligible staff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Method: Purposive, criterion-based sampling for information-rich participants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Inclusion: Age 18+, 6+ months tenure, qualifying role, English proficiency, willing consent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>
                <a:solidFill>
                  <a:srgbClr val="333333"/>
                </a:solidFill>
              </a:defRPr>
            </a:pPr>
            <a:r>
              <a:t>(Ahmad &amp; Wilkins, 2025; Campbell et al., 2020)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Data Collection Methods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Semi-structured interviews: sole source per site authorization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Track-specific protocols (Track A technology, Track B clinical perspective)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Format: 30–45 minute interviews, private space or secured videoconference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Recording: Audio recorded and transcribed verbatim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Member Checking: Summaries returned to participants for verification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No clinic records, patient data, or protected health information accessed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Data Analysis Plan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Method: Reflexive thematic analysis (Braun &amp; Clarke, 2021)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Process: Familiarization → open coding → grouping → theme development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Both tracks analyzed together to identify recurring themes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Saturation tracking: Continued until new interviews stopped adding themes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Triangulation: Data-source triangulation across two participant tracks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Software: Qualitative data analysis software maintains audit trail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>
                <a:solidFill>
                  <a:srgbClr val="333333"/>
                </a:solidFill>
              </a:defRPr>
            </a:pPr>
            <a:r>
              <a:t>(Braun &amp; Clarke, 2021)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Key Assumptions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Participants answer honestly about practices and patient responses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Interview data alone sufficient without clinic records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Purposive sampling reaches information-rich participants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CG-CAHPS-aligned data relates meaningfully to technology conditions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Mitigations: Pseudonymous coding, identity separation, cross-track comparison, reflexivity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Study Limitations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Single case with purposive sample limits statistical generalization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Researcher is primary instrument; cybersecurity background shapes what stands out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Relies entirely on self-report; member checking helps but doesn't certify accuracy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Track A limited to 2 participants by clinic staffing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Mitigations: Thick description, audit trail, second coder, reflexive memos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>
                <a:solidFill>
                  <a:srgbClr val="333333"/>
                </a:solidFill>
              </a:defRPr>
            </a:pPr>
            <a:r>
              <a:t>(Olmos-Vega et al., 2023)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Study Delimitations (Scope Boundaries)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One organization: NP Clinic as small, independently owned outpatient practice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Two participant groups: Track A (technical), Track B (clinical staff)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Three frameworks: NIST, HIPAA, HICP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One outcome measure: CG-CAHPS-aligned patient experience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Data limited to interviews; deliberately excludes clinic records and technology logs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Bounded to current practices and recent technology-incident history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Results Overview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Seven themes emerged from analysis of 7 completed interviews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Track A: 2 IT/cybersecurity staff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Track B: 5 clinical staff (1 recruited but unable to complete)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Saturation reached: No new codes in final two interviews of either track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Themes organized by research question alignment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Evidence supported by direct participant quotations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>
                <a:solidFill>
                  <a:srgbClr val="333333"/>
                </a:solidFill>
              </a:defRPr>
            </a:pPr>
            <a:r>
              <a:t>(Guest et al., 2020)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Theme 1: Governance Vacuum and Informal Decision Making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No formal IS governance structure exists at NP Clinic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Technology decisions driven by immediate operational need, not planned strategy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Whoever holds informal IT responsibility makes decisions without documented rationale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Practice owner unaware of cybersecurity requirements in HIPAA or other frameworks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No incident response plan or formal risk assessment present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Theme 2: Frameworks in the Head, Not on Paper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Track A staff familiar with governance concepts but no formal documentation exists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Knowledge exists as individual competency, not institutional policy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No written procedures for access control, incident response, or security training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Staff workarounds developed informally to address gaps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Framework knowledge inaccessible to new staff or during staff transitions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Theme 3: Vendor Dependency and Loss of Control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EHR and scheduling systems hosted by vendors with limited customization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NP Clinic has minimal visibility into security configurations or vendor practices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Outages affect clinic operations beyond clinic's direct control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Limited ability to implement local security controls within vendor systems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Dependency reduces clinic autonomy and constrains incident response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Theme 4: Privacy Training as Substitute for Security Training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Annual HIPAA privacy training conducted but focused on compliance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Staff unable to distinguish privacy (information use) from security (protection)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No training on phishing, access control, or incident reporting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Both Track A and Track B participants noted this gap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Security awareness treated as IT responsibility, not organizational culture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Theme 5: Workarounds as Normalized Clinical Practice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EHR outages prompt immediate shift to paper-based workarounds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Manual processes become temporary normal during disruptions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Staff accept workarounds as inevitable but express frustration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No formal decision-making about when to shift between systems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Workarounds remain undocumented, creating care continuity gaps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Theme 6: Time as the Currency of the Clinic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Staff time is the clinic's most severely constrained resource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Clinical obligations take priority over security-related work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Technology maintenance competes directly with patient care for attention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No dedicated IT staff means security falls to clinicians during patient downtime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Organizational capacity to implement new practices is severely limited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Theme 7: Incident Awareness and Informal Detection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Incidents detected informally (systems down, users call front desk)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No formal monitoring or alerting system for security events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Staff cannot reliably distinguish system failures from security incidents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Recovery handled ad hoc; no formal incident logs or reviews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Learning from incidents occurs tacitly, not systematically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Discussion: How Governance Gaps Manifest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RQ1 examined how staff characterize IS governance gaps and adoption barriers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Governance deficiencies span NIST, HIPAA, and HICP frameworks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Barriers are resource-driven (time, budget, staffing), not knowledge-driven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Practice owner and clinical staff awareness of cybersecurity expectations is limited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Informal workarounds mask severity of governance deficiencies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Discussion: Governance Impact on Patient Experience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RQ2 examined clinical staff perceptions of cybersecurity impact on patient experience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Technology disruptions create immediate workflow barriers for clinical staff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Staff report observable patient frustration during outages and scheduling delays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Workarounds consume time that would otherwise go to patient care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Patient satisfaction likely affected through increased wait times, communication delays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How Findings Connect to Literature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Supports hospital evidence: Governance gaps lead to operational disruption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Organizational resilience theory explains adaptation through informal workarounds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Nifakos et al. finding on organizational culture resonates at clinic scale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Alanazi findings on time/resource constraints confirmed at small practice scale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CG-CAHPS domains directly affected by disruptions documented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>
                <a:solidFill>
                  <a:srgbClr val="333333"/>
                </a:solidFill>
              </a:defRPr>
            </a:pPr>
            <a:r>
              <a:t>(Nifakos et al., 2021; Alanazi, 2023)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Implications for Small Practice Management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Small practices need guidance calibrated explicitly to resource constraints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HICP provides realistic framework; full NIST adoption not feasible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Security awareness must start with practice owner and extend to all staff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Incident response planning should fit small-team workflows and realities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Vendor relationships must include explicit security expectations and oversight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Implications for Research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Hospital-centric literature must expand to include outpatient settings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CG-CAHPS should be examined as outcome measure in governance studies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Organizational culture at small practices deserves dedicated research attention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Qualitative methods reveal mechanisms missed by quantitative breach studies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Human factors often outweigh technical controls in resource-constrained settings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Implications for Regulation and Policy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HIPAA Security Rule applies uniformly, but technical assistance must scale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Regulators should consider safe harbor provisions for small independent practices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Professional associations should develop small-practice-specific guidance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Cybersecurity expectations must acknowledge organizational capacity limitations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Support infrastructure (templates, training, technical assistance) needed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Recommendations for NP Clinic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Immediate: Document current practices and formalize incident response workflow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Near-term: Adopt HICP small-organization tier as governance baseline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Ongoing: Integrate security awareness into broader staff training beyond HIPAA privacy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Strategic: Evaluate vendor options with explicit security requirements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Institutional: Build incident response protocols into regular staff communication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Recommendations for Future Research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Multi-site case studies examining 3–5 small independent practices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Longitudinal study tracking IS governance improvements and patient satisfaction changes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Quantitative study of CG-CAHPS scores pre- and post-governance intervention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Research on organizational culture shifts in resource-constrained healthcare settings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Investigation of vendor accountability mechanisms for small practice security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Summary and Study Conclusion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3444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IS governance failures at NP Clinic are real and measurable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Governance gaps translate directly into operational disruptions affecting workflow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Disruptions manifest as communication delays, scheduling challenges, care postponement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Hospital-centric evidence holds at small practice scale with contextual modifications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Recommendations must be sized to resource constraints while meeting regulatory obligations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References (1 of 2)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23444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333333"/>
                </a:solidFill>
              </a:defRPr>
            </a:pPr>
            <a:r>
              <a:t>Alanazi, M. Q. (2023). Cybersecurity implementation barriers in healthcare. Healthcare Management Review, 48(3), 234–242.</a:t>
            </a:r>
          </a:p>
          <a:p>
            <a:pPr>
              <a:spcAft>
                <a:spcPts val="600"/>
              </a:spcAft>
              <a:defRPr sz="1000">
                <a:solidFill>
                  <a:srgbClr val="333333"/>
                </a:solidFill>
              </a:defRPr>
            </a:pPr>
            <a:r>
              <a:t>Argaw, S. T., Tremblay, M. E., Haney, B., &amp; Angelique, P. (2020). Cybersecurity of hospitals: Implications for patient safety. Journal of Medical Systems, 44(4), 78. https://doi.org/10.1007/s10916-020-1556-2</a:t>
            </a:r>
          </a:p>
          <a:p>
            <a:pPr>
              <a:spcAft>
                <a:spcPts val="600"/>
              </a:spcAft>
              <a:defRPr sz="1000">
                <a:solidFill>
                  <a:srgbClr val="333333"/>
                </a:solidFill>
              </a:defRPr>
            </a:pPr>
            <a:r>
              <a:t>Braun, V., &amp; Clarke, V. (2021). Reflecting on reflexive thematic analysis. Qualitative Research in Sport, Exercise and Health, 13(4), 1–9.</a:t>
            </a:r>
          </a:p>
          <a:p>
            <a:pPr>
              <a:spcAft>
                <a:spcPts val="600"/>
              </a:spcAft>
              <a:defRPr sz="1000">
                <a:solidFill>
                  <a:srgbClr val="333333"/>
                </a:solidFill>
              </a:defRPr>
            </a:pPr>
            <a:r>
              <a:t>Campbell, S., Greenwood, M., Prior, S., Shearer, T., Walkem, K., Young, S., ... &amp; Walker, K. (2020). Purposive sampling: Complex or simple? Research Case Studies, 14(8), 1–8.</a:t>
            </a:r>
          </a:p>
          <a:p>
            <a:pPr>
              <a:spcAft>
                <a:spcPts val="600"/>
              </a:spcAft>
              <a:defRPr sz="1000">
                <a:solidFill>
                  <a:srgbClr val="333333"/>
                </a:solidFill>
              </a:defRPr>
            </a:pPr>
            <a:r>
              <a:t>Choi, J. K., Slavin, K., &amp; Nouri, S. (2019). Effects of electronic health record downtime on adverse events. JAMA, 325(9), 874–883.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3A6B"/>
                </a:solidFill>
              </a:defRPr>
            </a:pPr>
            <a:r>
              <a:t>References (2 of 2)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4A90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23444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333333"/>
                </a:solidFill>
              </a:defRPr>
            </a:pPr>
            <a:r>
              <a:t>Coventry, L., &amp; Branley, D. (2018). Cybersecurity in healthcare: Evaluating the risk of unmet expectations. Computers &amp; Security, 80, 160–171.</a:t>
            </a:r>
          </a:p>
          <a:p>
            <a:pPr>
              <a:spcAft>
                <a:spcPts val="600"/>
              </a:spcAft>
              <a:defRPr sz="1000">
                <a:solidFill>
                  <a:srgbClr val="333333"/>
                </a:solidFill>
              </a:defRPr>
            </a:pPr>
            <a:r>
              <a:t>Darzi, A., Boyle, A. M., &amp; Gutacker, N. (2023). How good is the NHS? BMJ, 381, o1736.</a:t>
            </a:r>
          </a:p>
          <a:p>
            <a:pPr>
              <a:spcAft>
                <a:spcPts val="600"/>
              </a:spcAft>
              <a:defRPr sz="1000">
                <a:solidFill>
                  <a:srgbClr val="333333"/>
                </a:solidFill>
              </a:defRPr>
            </a:pPr>
            <a:r>
              <a:t>Guest, G., Namey, E., &amp; McKenna, K. (2020). How many focus groups are enough? Building an evidence base for nonprobability sample sizes. Field Methods, 29(1), 23–45.</a:t>
            </a:r>
          </a:p>
          <a:p>
            <a:pPr>
              <a:spcAft>
                <a:spcPts val="600"/>
              </a:spcAft>
              <a:defRPr sz="1000">
                <a:solidFill>
                  <a:srgbClr val="333333"/>
                </a:solidFill>
              </a:defRPr>
            </a:pPr>
            <a:r>
              <a:t>Miller, S., McBride, K., &amp; Wilkins, K. (2023). Conducting qualitative research. SAGE Publications.</a:t>
            </a:r>
          </a:p>
          <a:p>
            <a:pPr>
              <a:spcAft>
                <a:spcPts val="600"/>
              </a:spcAft>
              <a:defRPr sz="1000">
                <a:solidFill>
                  <a:srgbClr val="333333"/>
                </a:solidFill>
              </a:defRPr>
            </a:pPr>
            <a:r>
              <a:t>Nifakos, S., Tsalis, G., Konstantopoulou, A., &amp; Tsani, S. (2021). Assessing employees' behaviour towards information security. International Journal of Human-Computer Studies, 156, 102718.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Lavurn Nolen</a:t>
            </a:r>
            <a:br/>
            <a:r>
              <a:t>Doctor of Business Administration</a:t>
            </a:r>
            <a:br/>
            <a:r>
              <a:t>California Intercontinental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